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3657600" cy="2286000"/>
          </a:xfrm>
          <a:prstGeom prst="rect">
            <a:avLst/>
          </a:prstGeom>
          <a:noFill/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Arial"/>
              </a:defRPr>
            </a:pPr>
            <a:r>
              <a:t>TLS REAL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AFAFA"/>
                </a:solidFill>
                <a:latin typeface="Arial"/>
              </a:defRPr>
            </a:pPr>
            <a:r>
              <a:t>ELEVATING 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Arial"/>
              </a:defRPr>
            </a:pPr>
            <a:r>
              <a:t>A Digital Transformation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Arial"/>
              </a:defRPr>
            </a:pPr>
            <a:r>
              <a:t>The New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FAFAFA"/>
                </a:solidFill>
                <a:latin typeface="Arial"/>
              </a:defRPr>
            </a:pPr>
            <a:r>
              <a:t>From 'Functional' to 'Unforgettable'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  <a:latin typeface="Arial"/>
              </a:defRPr>
            </a:pPr>
            <a:r>
              <a:t>We aren't just updating a website. We are building a digital flagship store. Your online presence should be as impeccable as the properties you represent.</a:t>
            </a:r>
            <a:br/>
            <a:br/>
            <a:r>
              <a:t>•  Authority</a:t>
            </a:r>
            <a:br/>
            <a:r>
              <a:t>•  Trust</a:t>
            </a:r>
            <a:br/>
            <a:r>
              <a:t>•  Sophistication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Arial"/>
              </a:defRPr>
            </a:pPr>
            <a:r>
              <a:t>Modern Opulence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Arial"/>
              </a:defRPr>
            </a:pPr>
            <a:r>
              <a:t>A color palette defined by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solidFill>
            <a:srgbClr val="12121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AFA"/>
                </a:solidFill>
                <a:latin typeface="Arial"/>
              </a:defRPr>
            </a:pPr>
            <a:r>
              <a:t>Deep Carbon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1828800" cy="1828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2976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r>
              <a:t>Metallic 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AFAFA"/>
                </a:solidFill>
                <a:latin typeface="Arial"/>
              </a:defRPr>
            </a:pPr>
            <a:r>
              <a:t>Signifies depth, power, and prestige.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Arial"/>
              </a:defRPr>
            </a:pPr>
            <a:r>
              <a:t>Client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1920240" y="45720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  <a:latin typeface="Arial"/>
              </a:defRPr>
            </a:pPr>
            <a:r>
              <a:t>Effortless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Arial"/>
              </a:defRPr>
            </a:pPr>
            <a:r>
              <a:t>Clients find what they need instantly, whether buying or leasing.</a:t>
            </a:r>
          </a:p>
        </p:txBody>
      </p:sp>
      <p:sp>
        <p:nvSpPr>
          <p:cNvPr id="8" name="Oval 7"/>
          <p:cNvSpPr/>
          <p:nvPr/>
        </p:nvSpPr>
        <p:spPr>
          <a:xfrm>
            <a:off x="3108960" y="45720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  <a:latin typeface="Arial"/>
              </a:defRPr>
            </a:pPr>
            <a:r>
              <a:t>Visual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79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Arial"/>
              </a:defRPr>
            </a:pPr>
            <a:r>
              <a:t>Properties showcased with cinema-quality grids, not clutter.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79" y="457200"/>
            <a:ext cx="137160" cy="1371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  <a:latin typeface="Arial"/>
              </a:defRPr>
            </a:pPr>
            <a:r>
              <a:t>Direct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A0A0"/>
                </a:solidFill>
                <a:latin typeface="Arial"/>
              </a:defRPr>
            </a:pPr>
            <a:r>
              <a:t>Forms replacing emails. One click to connect.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Arial"/>
              </a:defRPr>
            </a:pPr>
            <a:r>
              <a:t>Your Professional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AFAFA"/>
                </a:solidFill>
                <a:latin typeface="Arial"/>
              </a:defRPr>
            </a:pPr>
            <a:r>
              <a:t>TLS is more than an agency; it's a hub for property 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14400"/>
            <a:ext cx="16459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r>
              <a:t>Mortgage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743200"/>
            <a:ext cx="16459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4747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r>
              <a:t>Builders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572000"/>
            <a:ext cx="16459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r>
              <a:t>Staging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6400800"/>
            <a:ext cx="1645920" cy="1828800"/>
          </a:xfrm>
          <a:prstGeom prst="roundRect">
            <a:avLst/>
          </a:prstGeom>
          <a:solidFill>
            <a:srgbClr val="1E1E1E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rial"/>
              </a:defRPr>
            </a:pPr>
            <a:r>
              <a:t>Legal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Arial"/>
              </a:defRPr>
            </a:pPr>
            <a:r>
              <a:t>Built for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Arial"/>
              </a:defRPr>
            </a:pPr>
            <a:r>
              <a:t>Your clients don't like to wait. Neither do we.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A0A0A0"/>
                </a:solidFill>
                <a:latin typeface="Arial"/>
              </a:defRPr>
            </a:pPr>
            <a:r>
              <a:t>•  Instant Loading:  Pages load in under 1 second.</a:t>
            </a:r>
            <a:br/>
            <a:r>
              <a:t>•  Mobile Perfect:  Looks stunning on iPhones and iPads.</a:t>
            </a:r>
            <a:br/>
            <a:r>
              <a:t>•  Safe &amp; Secure:  Bank-grade reliability without the maintenance.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  <a:latin typeface="Arial"/>
              </a:defRPr>
            </a:pPr>
            <a:r>
              <a:t>Getting You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AFAFA"/>
                </a:solidFill>
                <a:latin typeface="Arial"/>
              </a:defRPr>
            </a:pPr>
            <a:r>
              <a:t>We've optimized every page to help new clients discover TLS.</a:t>
            </a:r>
          </a:p>
        </p:txBody>
      </p:sp>
      <p:sp>
        <p:nvSpPr>
          <p:cNvPr id="6" name="Chevron 5"/>
          <p:cNvSpPr/>
          <p:nvPr/>
        </p:nvSpPr>
        <p:spPr>
          <a:xfrm>
            <a:off x="2743200" y="914400"/>
            <a:ext cx="1828800" cy="914400"/>
          </a:xfrm>
          <a:prstGeom prst="chevron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rial"/>
              </a:defRPr>
            </a:pPr>
            <a:r>
              <a:t>Optimized</a:t>
            </a:r>
          </a:p>
        </p:txBody>
      </p:sp>
      <p:sp>
        <p:nvSpPr>
          <p:cNvPr id="8" name="Chevron 7"/>
          <p:cNvSpPr/>
          <p:nvPr/>
        </p:nvSpPr>
        <p:spPr>
          <a:xfrm>
            <a:off x="2743200" y="3200400"/>
            <a:ext cx="1828800" cy="914400"/>
          </a:xfrm>
          <a:prstGeom prst="chevron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rial"/>
              </a:defRPr>
            </a:pPr>
            <a:r>
              <a:t>Discovered</a:t>
            </a:r>
          </a:p>
        </p:txBody>
      </p:sp>
      <p:sp>
        <p:nvSpPr>
          <p:cNvPr id="10" name="Chevron 9"/>
          <p:cNvSpPr/>
          <p:nvPr/>
        </p:nvSpPr>
        <p:spPr>
          <a:xfrm>
            <a:off x="2743200" y="5486400"/>
            <a:ext cx="1828800" cy="914400"/>
          </a:xfrm>
          <a:prstGeom prst="chevron">
            <a:avLst/>
          </a:prstGeom>
          <a:solidFill>
            <a:srgbClr val="D4AF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9260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Arial"/>
              </a:defRPr>
            </a:pPr>
            <a:r>
              <a:t>Connected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D4AF37"/>
                </a:solidFill>
                <a:latin typeface="Arial"/>
              </a:defRPr>
            </a:pPr>
            <a:r>
              <a:t>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FAFAFA"/>
                </a:solidFill>
                <a:latin typeface="Arial"/>
              </a:defRPr>
            </a:pPr>
            <a:r>
              <a:t>Let's bring this vision to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2743200" cy="914400"/>
          </a:xfrm>
          <a:prstGeom prst="roundRect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8463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Arial"/>
              </a:defRPr>
            </a:pPr>
            <a:r>
              <a:t>VIEW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